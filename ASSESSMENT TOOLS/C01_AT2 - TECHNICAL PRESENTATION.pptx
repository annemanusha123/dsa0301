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72" r:id="rId4"/>
    <p:sldId id="263" r:id="rId5"/>
    <p:sldId id="273" r:id="rId6"/>
    <p:sldId id="264" r:id="rId7"/>
    <p:sldId id="274" r:id="rId8"/>
    <p:sldId id="275" r:id="rId9"/>
    <p:sldId id="276" r:id="rId10"/>
    <p:sldId id="277" r:id="rId11"/>
    <p:sldId id="278" r:id="rId12"/>
    <p:sldId id="262" r:id="rId1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>
      <p:cViewPr varScale="1">
        <p:scale>
          <a:sx n="75" d="100"/>
          <a:sy n="75" d="100"/>
        </p:scale>
        <p:origin x="893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7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608076" y="611124"/>
            <a:ext cx="10972800" cy="5638800"/>
          </a:xfrm>
          <a:custGeom>
            <a:avLst/>
            <a:gdLst/>
            <a:ahLst/>
            <a:cxnLst/>
            <a:rect l="l" t="t" r="r" b="b"/>
            <a:pathLst>
              <a:path w="10972800" h="5638800">
                <a:moveTo>
                  <a:pt x="0" y="5638799"/>
                </a:moveTo>
                <a:lnTo>
                  <a:pt x="10972799" y="5638799"/>
                </a:lnTo>
                <a:lnTo>
                  <a:pt x="10972799" y="0"/>
                </a:lnTo>
                <a:lnTo>
                  <a:pt x="0" y="0"/>
                </a:lnTo>
                <a:lnTo>
                  <a:pt x="0" y="5638799"/>
                </a:lnTo>
                <a:close/>
              </a:path>
            </a:pathLst>
          </a:custGeom>
          <a:ln w="15224">
            <a:solidFill>
              <a:srgbClr val="83992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154680"/>
            <a:ext cx="761999" cy="606551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36095" y="3154680"/>
            <a:ext cx="755902" cy="606551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397508" y="2421636"/>
            <a:ext cx="9407525" cy="0"/>
          </a:xfrm>
          <a:custGeom>
            <a:avLst/>
            <a:gdLst/>
            <a:ahLst/>
            <a:cxnLst/>
            <a:rect l="l" t="t" r="r" b="b"/>
            <a:pathLst>
              <a:path w="9407525">
                <a:moveTo>
                  <a:pt x="0" y="0"/>
                </a:moveTo>
                <a:lnTo>
                  <a:pt x="9407270" y="0"/>
                </a:lnTo>
              </a:path>
            </a:pathLst>
          </a:custGeom>
          <a:ln w="15224">
            <a:solidFill>
              <a:srgbClr val="83992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7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608076" y="611124"/>
            <a:ext cx="10972800" cy="5638800"/>
          </a:xfrm>
          <a:custGeom>
            <a:avLst/>
            <a:gdLst/>
            <a:ahLst/>
            <a:cxnLst/>
            <a:rect l="l" t="t" r="r" b="b"/>
            <a:pathLst>
              <a:path w="10972800" h="5638800">
                <a:moveTo>
                  <a:pt x="0" y="5638799"/>
                </a:moveTo>
                <a:lnTo>
                  <a:pt x="10972799" y="5638799"/>
                </a:lnTo>
                <a:lnTo>
                  <a:pt x="10972799" y="0"/>
                </a:lnTo>
                <a:lnTo>
                  <a:pt x="0" y="0"/>
                </a:lnTo>
                <a:lnTo>
                  <a:pt x="0" y="5638799"/>
                </a:lnTo>
                <a:close/>
              </a:path>
            </a:pathLst>
          </a:custGeom>
          <a:ln w="15224">
            <a:solidFill>
              <a:srgbClr val="83992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3154680"/>
            <a:ext cx="761999" cy="606551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436095" y="3154680"/>
            <a:ext cx="755902" cy="60655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37062" y="882853"/>
            <a:ext cx="4317874" cy="10293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79534" y="2267707"/>
            <a:ext cx="9548357" cy="3728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7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1543811"/>
            <a:ext cx="12191998" cy="3834765"/>
            <a:chOff x="0" y="1543811"/>
            <a:chExt cx="12191998" cy="3834765"/>
          </a:xfrm>
        </p:grpSpPr>
        <p:sp>
          <p:nvSpPr>
            <p:cNvPr id="4" name="object 4"/>
            <p:cNvSpPr/>
            <p:nvPr/>
          </p:nvSpPr>
          <p:spPr>
            <a:xfrm>
              <a:off x="2330194" y="1543811"/>
              <a:ext cx="7543800" cy="3834765"/>
            </a:xfrm>
            <a:custGeom>
              <a:avLst/>
              <a:gdLst/>
              <a:ahLst/>
              <a:cxnLst/>
              <a:rect l="l" t="t" r="r" b="b"/>
              <a:pathLst>
                <a:path w="7543800" h="3834765">
                  <a:moveTo>
                    <a:pt x="0" y="3834383"/>
                  </a:moveTo>
                  <a:lnTo>
                    <a:pt x="7543799" y="3834383"/>
                  </a:lnTo>
                  <a:lnTo>
                    <a:pt x="7543799" y="0"/>
                  </a:lnTo>
                  <a:lnTo>
                    <a:pt x="0" y="0"/>
                  </a:lnTo>
                  <a:lnTo>
                    <a:pt x="0" y="3834383"/>
                  </a:lnTo>
                  <a:close/>
                </a:path>
              </a:pathLst>
            </a:custGeom>
            <a:ln w="15224">
              <a:solidFill>
                <a:srgbClr val="8399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148583"/>
              <a:ext cx="2459735" cy="61264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35311" y="3148583"/>
              <a:ext cx="2456687" cy="612646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692906" y="3078987"/>
            <a:ext cx="68160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400" dirty="0"/>
              <a:t>SPEECH LANGUAGE PROCESSING</a:t>
            </a:r>
            <a:endParaRPr sz="2400" dirty="0"/>
          </a:p>
        </p:txBody>
      </p:sp>
      <p:sp>
        <p:nvSpPr>
          <p:cNvPr id="10" name="object 10"/>
          <p:cNvSpPr txBox="1"/>
          <p:nvPr/>
        </p:nvSpPr>
        <p:spPr>
          <a:xfrm>
            <a:off x="3838576" y="3958756"/>
            <a:ext cx="3781424" cy="467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935" marR="234315" indent="-4445" algn="ctr">
              <a:lnSpc>
                <a:spcPct val="105700"/>
              </a:lnSpc>
              <a:spcBef>
                <a:spcPts val="100"/>
              </a:spcBef>
            </a:pPr>
            <a:r>
              <a:rPr lang="en-US" sz="14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PRESENTED </a:t>
            </a:r>
            <a:r>
              <a:rPr sz="1400" b="1" spc="-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400" b="1" spc="-25" dirty="0">
                <a:solidFill>
                  <a:srgbClr val="252525"/>
                </a:solidFill>
                <a:latin typeface="Times New Roman"/>
                <a:cs typeface="Times New Roman"/>
              </a:rPr>
              <a:t>BY </a:t>
            </a:r>
            <a:endParaRPr lang="en-US" sz="1400" b="1" spc="-25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241935" marR="234315" indent="-4445" algn="ctr">
              <a:lnSpc>
                <a:spcPct val="105700"/>
              </a:lnSpc>
              <a:spcBef>
                <a:spcPts val="100"/>
              </a:spcBef>
            </a:pPr>
            <a:r>
              <a:rPr lang="en-US" sz="14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A. Anusha </a:t>
            </a:r>
            <a:r>
              <a:rPr sz="14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(192472083</a:t>
            </a:r>
            <a:r>
              <a:rPr lang="en-US" sz="14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693025" y="4742688"/>
            <a:ext cx="18364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753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Guided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spc="-25" dirty="0">
                <a:latin typeface="Times New Roman"/>
                <a:cs typeface="Times New Roman"/>
              </a:rPr>
              <a:t>by</a:t>
            </a: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spc="-40" dirty="0">
                <a:latin typeface="Times New Roman"/>
                <a:cs typeface="Times New Roman"/>
              </a:rPr>
              <a:t>Dr.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lang="en-US" sz="1400" b="1" spc="-50" dirty="0">
                <a:latin typeface="Times New Roman"/>
                <a:cs typeface="Times New Roman"/>
              </a:rPr>
              <a:t>V. K  GNANAVEL</a:t>
            </a:r>
            <a:endParaRPr sz="1400" dirty="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364483" y="1621701"/>
            <a:ext cx="7463155" cy="1038225"/>
            <a:chOff x="2364483" y="1621701"/>
            <a:chExt cx="7463155" cy="1038225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38575" y="1621701"/>
              <a:ext cx="4419599" cy="79793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64483" y="1639854"/>
              <a:ext cx="1143002" cy="101950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902485" y="1653656"/>
              <a:ext cx="925032" cy="87840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075" rIns="0" bIns="0" rtlCol="0">
            <a:spAutoFit/>
          </a:bodyPr>
          <a:lstStyle/>
          <a:p>
            <a:pPr marL="78232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85800" y="736492"/>
            <a:ext cx="10678795" cy="1050290"/>
            <a:chOff x="685800" y="736492"/>
            <a:chExt cx="10678795" cy="105029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39400" y="908380"/>
              <a:ext cx="925031" cy="87840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800" y="736492"/>
              <a:ext cx="1143002" cy="1019505"/>
            </a:xfrm>
            <a:prstGeom prst="rect">
              <a:avLst/>
            </a:prstGeom>
          </p:spPr>
        </p:pic>
      </p:grpSp>
      <p:sp>
        <p:nvSpPr>
          <p:cNvPr id="7" name="Rectangle 1">
            <a:extLst>
              <a:ext uri="{FF2B5EF4-FFF2-40B4-BE49-F238E27FC236}">
                <a16:creationId xmlns:a16="http://schemas.microsoft.com/office/drawing/2014/main" id="{DA1B07B3-2003-B980-494A-916D034E48C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90600" y="2486801"/>
            <a:ext cx="9829800" cy="3730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Language Processing (SLP) is a branch of Artificial Intelligence (AI) that enables computers to understand, process, and generate human speech.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combines techniques from Natural Language Processing (NLP), speech recognition, and machine learning to interact with users through voice.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SLP converts spoken language into text (Speech-to-Text) and can also convert text into natural speech (Text-to-Speech).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widely used in applications such as voice assistants (Siri, Alexa, Google Assistant), call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voice search, and speech translation.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BC4C6-987C-4854-2D2C-F6ABAC63B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FD551F3-60F0-141A-4B4A-77EB9B555C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882853"/>
            <a:ext cx="8991600" cy="1580561"/>
          </a:xfrm>
          <a:prstGeom prst="rect">
            <a:avLst/>
          </a:prstGeom>
        </p:spPr>
        <p:txBody>
          <a:bodyPr vert="horz" wrap="square" lIns="0" tIns="346075" rIns="0" bIns="0" rtlCol="0">
            <a:spAutoFit/>
          </a:bodyPr>
          <a:lstStyle/>
          <a:p>
            <a:pPr marL="782320" algn="ctr">
              <a:lnSpc>
                <a:spcPct val="100000"/>
              </a:lnSpc>
              <a:spcBef>
                <a:spcPts val="100"/>
              </a:spcBef>
            </a:pPr>
            <a:r>
              <a:rPr lang="en-IN" sz="4000" dirty="0"/>
              <a:t>What is Speech Language Processing?</a:t>
            </a:r>
            <a:endParaRPr sz="4000" spc="-10" dirty="0"/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0EACED8E-1EAE-BC57-2854-11A3B772F8A0}"/>
              </a:ext>
            </a:extLst>
          </p:cNvPr>
          <p:cNvGrpSpPr/>
          <p:nvPr/>
        </p:nvGrpSpPr>
        <p:grpSpPr>
          <a:xfrm>
            <a:off x="685800" y="736492"/>
            <a:ext cx="10678795" cy="1050290"/>
            <a:chOff x="685800" y="736492"/>
            <a:chExt cx="10678795" cy="1050290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FA3596AD-4884-4400-7D0B-13B91010958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39400" y="908380"/>
              <a:ext cx="925031" cy="878405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E9E69B4C-AC71-2F84-A173-89A1FF1FFB0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800" y="736492"/>
              <a:ext cx="1143002" cy="1019505"/>
            </a:xfrm>
            <a:prstGeom prst="rect">
              <a:avLst/>
            </a:prstGeom>
          </p:spPr>
        </p:pic>
      </p:grpSp>
      <p:sp>
        <p:nvSpPr>
          <p:cNvPr id="7" name="Rectangle 1">
            <a:extLst>
              <a:ext uri="{FF2B5EF4-FFF2-40B4-BE49-F238E27FC236}">
                <a16:creationId xmlns:a16="http://schemas.microsoft.com/office/drawing/2014/main" id="{C5534967-A646-F260-3AFA-3D55FC9E1C8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219200" y="2886538"/>
            <a:ext cx="9601200" cy="1729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Converts speech into text (Speech-to-Text).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Understands the meaning of spoken language.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Generates responses based on user input.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Converts text back into speech (Text-to-Speech).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198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741AF-94F7-36F8-04A7-8F28DCC96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0" y="882853"/>
            <a:ext cx="7010400" cy="1231106"/>
          </a:xfrm>
        </p:spPr>
        <p:txBody>
          <a:bodyPr/>
          <a:lstStyle/>
          <a:p>
            <a:pPr algn="ctr"/>
            <a:r>
              <a:rPr lang="en-US" sz="4000" spc="-100" dirty="0"/>
              <a:t>H</a:t>
            </a:r>
            <a:r>
              <a:rPr lang="en-IN" sz="4000" spc="-100" dirty="0"/>
              <a:t>ow Speech Language Processing Works</a:t>
            </a:r>
            <a:endParaRPr lang="en-IN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161024-8182-FF41-6474-1626D4905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743201"/>
            <a:ext cx="10221431" cy="322718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Speech Input</a:t>
            </a:r>
            <a:r>
              <a:rPr lang="en-IN" sz="2000" dirty="0"/>
              <a:t> – The user speaks into a microphone, and the system captures the voice signal.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Speech Recognition</a:t>
            </a:r>
            <a:r>
              <a:rPr lang="en-IN" sz="2000" dirty="0"/>
              <a:t> – The spoken words are converted into text using Speech-to-Text (STT) technology.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Language Processing</a:t>
            </a:r>
            <a:r>
              <a:rPr lang="en-IN" sz="2000" dirty="0"/>
              <a:t> – The system </a:t>
            </a:r>
            <a:r>
              <a:rPr lang="en-IN" sz="2000" dirty="0" err="1"/>
              <a:t>analyzes</a:t>
            </a:r>
            <a:r>
              <a:rPr lang="en-IN" sz="2000" dirty="0"/>
              <a:t> the text to understand its meaning, grammar, and user intent.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Response Generation</a:t>
            </a:r>
            <a:r>
              <a:rPr lang="en-IN" sz="2000" dirty="0"/>
              <a:t> – Based on the user's request, the system generates an appropriate response or performs the required action.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Speech Output</a:t>
            </a:r>
            <a:r>
              <a:rPr lang="en-IN" sz="2000" dirty="0"/>
              <a:t> – The response is converted into spoken words using Text-to-Speech (TTS) technology and played back to the user.</a:t>
            </a:r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9FDF4E18-C270-CD3A-C719-BDA1A088EB6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736492"/>
            <a:ext cx="1143002" cy="1019505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BBDBAE4E-CAC5-13B5-501E-FA6E9353268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39400" y="762000"/>
            <a:ext cx="925031" cy="878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385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38DD5-E07C-72CC-62D6-4BE03241B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3B27F-3BE4-3AC0-1670-DACE9C372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0" y="882853"/>
            <a:ext cx="7010400" cy="1231106"/>
          </a:xfrm>
        </p:spPr>
        <p:txBody>
          <a:bodyPr/>
          <a:lstStyle/>
          <a:p>
            <a:pPr algn="ctr"/>
            <a:r>
              <a:rPr lang="en-IN" sz="4000" dirty="0"/>
              <a:t>Components of Speech Language Processing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020214-7EA8-3170-4EC6-45B1A0A4B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743201"/>
            <a:ext cx="10221431" cy="1846659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Speech Recognition (ASR)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Natural Language Understanding (NLU)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Dialogue Management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Natural Language Generation (NLG)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Text-to-Speech (TTS)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1CE589F7-61AF-0E4D-767F-548847F2C71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736492"/>
            <a:ext cx="1143002" cy="1019505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AEA525CE-228E-FF8A-47E7-2D366EFEBF2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39400" y="762000"/>
            <a:ext cx="925031" cy="878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202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28866-1F57-1B91-8287-EF6344A2B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62" y="882853"/>
            <a:ext cx="4317874" cy="677108"/>
          </a:xfrm>
        </p:spPr>
        <p:txBody>
          <a:bodyPr/>
          <a:lstStyle/>
          <a:p>
            <a:pPr algn="ctr"/>
            <a:r>
              <a:rPr lang="en-US" spc="-100" dirty="0"/>
              <a:t>A</a:t>
            </a:r>
            <a:r>
              <a:rPr lang="en-IN" spc="-100" dirty="0" err="1"/>
              <a:t>pplications</a:t>
            </a:r>
            <a:r>
              <a:rPr lang="en-IN" spc="-100" dirty="0"/>
              <a:t> </a:t>
            </a:r>
            <a:endParaRPr lang="en-IN" dirty="0"/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68D7638B-CAE7-EEA7-D34B-6581189BC41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736492"/>
            <a:ext cx="1143002" cy="1019505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6BBE2856-6812-8F59-088D-E06571EA6AC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39400" y="762000"/>
            <a:ext cx="925031" cy="878405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EFD99DBF-B0CE-D359-7AAD-098986C3F5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95400" y="2511360"/>
            <a:ext cx="953293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sz="2000" b="1" dirty="0"/>
              <a:t>Voice Assistants</a:t>
            </a:r>
            <a:r>
              <a:rPr lang="en-IN" sz="2000" dirty="0"/>
              <a:t> – Used in Siri, Alexa, and Google Assistant to answer questions and perform tasks.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sz="2000" b="1" dirty="0"/>
              <a:t>Speech-to-Text</a:t>
            </a:r>
            <a:r>
              <a:rPr lang="en-IN" sz="2000" dirty="0"/>
              <a:t> – Converts spoken words into text for dictation, transcription, and note-taking.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sz="2000" b="1" dirty="0"/>
              <a:t>Text-to-Speech</a:t>
            </a:r>
            <a:r>
              <a:rPr lang="en-IN" sz="2000" dirty="0"/>
              <a:t> – Reads text aloud for visually impaired users and navigation systems.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sz="2000" b="1" dirty="0"/>
              <a:t>Customer Service</a:t>
            </a:r>
            <a:r>
              <a:rPr lang="en-IN" sz="2000" dirty="0"/>
              <a:t> – Powers automated call </a:t>
            </a:r>
            <a:r>
              <a:rPr lang="en-IN" sz="2000" dirty="0" err="1"/>
              <a:t>centers</a:t>
            </a:r>
            <a:r>
              <a:rPr lang="en-IN" sz="2000" dirty="0"/>
              <a:t>, chatbots, and interactive voice response (IVR) systems.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sz="2000" b="1" dirty="0"/>
              <a:t>Language Translation</a:t>
            </a:r>
            <a:r>
              <a:rPr lang="en-IN" sz="2000" dirty="0"/>
              <a:t> – Translates spoken language into another language in real time for communication and travel.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3617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B6EBE-6219-CC50-FEF9-F0BF0E3F4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19CC7-C4E9-E19D-468A-799DE3C00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62" y="882853"/>
            <a:ext cx="4317874" cy="677108"/>
          </a:xfrm>
        </p:spPr>
        <p:txBody>
          <a:bodyPr/>
          <a:lstStyle/>
          <a:p>
            <a:pPr algn="ctr"/>
            <a:r>
              <a:rPr lang="en-IN" dirty="0"/>
              <a:t>Advantages</a:t>
            </a:r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85C9E6FF-B549-5D25-C076-F5E797C96C0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736492"/>
            <a:ext cx="1143002" cy="1019505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9A152A03-BC3E-15FA-B139-C5252F7B720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39400" y="762000"/>
            <a:ext cx="925031" cy="878405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CEED6BB0-73D2-EE82-C754-037C9CC992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19200" y="2666125"/>
            <a:ext cx="9609138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sz="2000" b="1" dirty="0"/>
              <a:t>Easy Communication</a:t>
            </a:r>
            <a:r>
              <a:rPr lang="en-IN" sz="2000" dirty="0"/>
              <a:t> – Allows users to interact with computers using natural speech.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sz="2000" b="1" dirty="0"/>
              <a:t>Hands-Free Operation</a:t>
            </a:r>
            <a:r>
              <a:rPr lang="en-IN" sz="2000" dirty="0"/>
              <a:t> – Enables voice control without using a keyboard or mouse.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sz="2000" b="1" dirty="0"/>
              <a:t>Saves Time</a:t>
            </a:r>
            <a:r>
              <a:rPr lang="en-IN" sz="2000" dirty="0"/>
              <a:t> – Speeds up tasks such as searching, typing, and giving commands.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sz="2000" b="1" dirty="0"/>
              <a:t>Improves Accessibility</a:t>
            </a:r>
            <a:r>
              <a:rPr lang="en-IN" sz="2000" dirty="0"/>
              <a:t> – Helps people with visual or physical disabilities use technology more easily.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sz="2000" b="1" dirty="0"/>
              <a:t>Supports Multiple Languages</a:t>
            </a:r>
            <a:r>
              <a:rPr lang="en-IN" sz="2000" dirty="0"/>
              <a:t> – Enables communication and translation across different languages.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2251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987A1-B12D-F6CC-A60F-FE06A40A9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F42BF-C715-69FC-4A5B-FE6CC71EA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62" y="882853"/>
            <a:ext cx="4317874" cy="677108"/>
          </a:xfrm>
        </p:spPr>
        <p:txBody>
          <a:bodyPr/>
          <a:lstStyle/>
          <a:p>
            <a:pPr algn="ctr"/>
            <a:r>
              <a:rPr lang="en-IN" dirty="0"/>
              <a:t>Challenges</a:t>
            </a:r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DD83A206-9B0C-478A-4B9B-4A9B31DD410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736492"/>
            <a:ext cx="1143002" cy="1019505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AE4C41C4-AD35-C3C8-86DF-C29D501BB1B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39400" y="762000"/>
            <a:ext cx="925031" cy="878405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25942587-08CC-D276-ED16-AE3BF9FFF3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371600" y="2608143"/>
            <a:ext cx="9456738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Accent Variation: Different accents and pronunciations can reduce recognition accuracy.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Background Noise: Noisy environments make it difficult for the system to capture speech clearly.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Speech Ambiguity: Words that sound similar may be interpreted incorrectly.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Multilingual Complexity: Understanding and switching between multiple languages is challenging.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Privacy and Security: Voice data may contain sensitive information and must be protected.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426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BA25A-7CDF-BD49-EB20-F80C8D78D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941A9-D2CA-B89C-533C-0F5407464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62" y="882853"/>
            <a:ext cx="4317874" cy="677108"/>
          </a:xfrm>
        </p:spPr>
        <p:txBody>
          <a:bodyPr/>
          <a:lstStyle/>
          <a:p>
            <a:pPr algn="ctr"/>
            <a:r>
              <a:rPr lang="en-IN" dirty="0"/>
              <a:t>Future Scope</a:t>
            </a:r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EDC63CC9-B287-4F92-2364-462ADDABA5D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736492"/>
            <a:ext cx="1143002" cy="1019505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3654877B-164C-57FA-271F-3D1C6FEF9E3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39400" y="762000"/>
            <a:ext cx="925031" cy="878405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F171E52A-397F-26F8-E3CD-00131EE102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371600" y="2608144"/>
            <a:ext cx="9456738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sz="2000" b="1" dirty="0"/>
              <a:t>More Accurate Speech Recognition</a:t>
            </a:r>
            <a:r>
              <a:rPr lang="en-IN" sz="2000" dirty="0"/>
              <a:t> – AI will better understand different accents and speaking styles.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sz="2000" b="1" dirty="0"/>
              <a:t>Real-Time Language Translation</a:t>
            </a:r>
            <a:r>
              <a:rPr lang="en-IN" sz="2000" dirty="0"/>
              <a:t> – Enables seamless communication between people speaking different languages.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sz="2000" b="1" dirty="0"/>
              <a:t>Smarter Voice Assistants</a:t>
            </a:r>
            <a:r>
              <a:rPr lang="en-IN" sz="2000" dirty="0"/>
              <a:t> – Virtual assistants will become more intelligent and provide personalized responses.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sz="2000" b="1" dirty="0"/>
              <a:t>Healthcare Applications</a:t>
            </a:r>
            <a:r>
              <a:rPr lang="en-IN" sz="2000" dirty="0"/>
              <a:t> – Used for medical transcription, patient monitoring, and voice-based diagnosis support.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sz="2000" b="1" dirty="0"/>
              <a:t>Human-Like Conversations</a:t>
            </a:r>
            <a:r>
              <a:rPr lang="en-IN" sz="2000" dirty="0"/>
              <a:t> – Future systems will have more natural, emotional, and context-aware interactions with users.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7366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B44AF-A0BD-5E6D-816A-F7B5927BC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D70F8-7A24-A693-8542-37B495658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62" y="882853"/>
            <a:ext cx="4317874" cy="677108"/>
          </a:xfrm>
        </p:spPr>
        <p:txBody>
          <a:bodyPr/>
          <a:lstStyle/>
          <a:p>
            <a:pPr algn="ctr"/>
            <a:r>
              <a:rPr lang="en-IN" dirty="0"/>
              <a:t>Conclusion</a:t>
            </a:r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CF5E158C-9721-A8DB-7C3B-458361F2E20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736492"/>
            <a:ext cx="1143002" cy="1019505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D37EEA7A-27CE-A649-BFC4-D13E93DC502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39400" y="762000"/>
            <a:ext cx="925031" cy="878405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58881C8C-A4B2-9580-C6E0-D4D96F4DE1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19200" y="3133697"/>
            <a:ext cx="9609138" cy="1883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sz="2000" dirty="0"/>
              <a:t>Speech Language Processing is transforming human-computer interaction.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sz="2000" dirty="0"/>
              <a:t>It enables machines to understand and respond to human speech.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sz="2000" dirty="0"/>
              <a:t>It is widely used in healthcare, education, banking, and smart devices.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sz="2000" dirty="0"/>
              <a:t>Future advancements will make voice communication more natural and intelligent.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642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654181-4C54-F6A9-E223-E2B15548E5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3171" y="2155686"/>
            <a:ext cx="4951629" cy="38009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65C93B-23D4-CCC5-8FF4-CC328C218D4B}"/>
              </a:ext>
            </a:extLst>
          </p:cNvPr>
          <p:cNvSpPr txBox="1"/>
          <p:nvPr/>
        </p:nvSpPr>
        <p:spPr>
          <a:xfrm>
            <a:off x="3352800" y="1447800"/>
            <a:ext cx="487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 TAG PHOTO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object 5">
            <a:extLst>
              <a:ext uri="{FF2B5EF4-FFF2-40B4-BE49-F238E27FC236}">
                <a16:creationId xmlns:a16="http://schemas.microsoft.com/office/drawing/2014/main" id="{7A4A3811-33BE-90CD-0475-CC325492307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800" y="736492"/>
            <a:ext cx="1143002" cy="1019505"/>
          </a:xfrm>
          <a:prstGeom prst="rect">
            <a:avLst/>
          </a:prstGeom>
        </p:spPr>
      </p:pic>
      <p:pic>
        <p:nvPicPr>
          <p:cNvPr id="10" name="object 4">
            <a:extLst>
              <a:ext uri="{FF2B5EF4-FFF2-40B4-BE49-F238E27FC236}">
                <a16:creationId xmlns:a16="http://schemas.microsoft.com/office/drawing/2014/main" id="{42F487C3-77A8-3928-46BB-9CA526810597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39400" y="762000"/>
            <a:ext cx="925031" cy="878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4040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73425" y="2542921"/>
            <a:ext cx="5522975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8800" i="1" spc="-10" dirty="0">
                <a:latin typeface="Times New Roman"/>
                <a:cs typeface="Times New Roman"/>
              </a:rPr>
              <a:t>Thank </a:t>
            </a:r>
            <a:r>
              <a:rPr sz="8800" i="1" spc="-25" dirty="0">
                <a:latin typeface="Times New Roman"/>
                <a:cs typeface="Times New Roman"/>
              </a:rPr>
              <a:t>you</a:t>
            </a:r>
            <a:endParaRPr sz="8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340</TotalTime>
  <Words>640</Words>
  <Application>Microsoft Office PowerPoint</Application>
  <PresentationFormat>Widescreen</PresentationFormat>
  <Paragraphs>58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Times New Roman</vt:lpstr>
      <vt:lpstr>Office Theme</vt:lpstr>
      <vt:lpstr>SPEECH LANGUAGE PROCESSING</vt:lpstr>
      <vt:lpstr>Introduction</vt:lpstr>
      <vt:lpstr>What is Speech Language Processing?</vt:lpstr>
      <vt:lpstr>How Speech Language Processing Works</vt:lpstr>
      <vt:lpstr>Components of Speech Language Processing</vt:lpstr>
      <vt:lpstr>Applications </vt:lpstr>
      <vt:lpstr>Advantages</vt:lpstr>
      <vt:lpstr>Challenges</vt:lpstr>
      <vt:lpstr>Future Scope</vt:lpstr>
      <vt:lpstr>Conclusion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Batch 1 python.pptx</dc:title>
  <dc:creator>Annem anusha</dc:creator>
  <cp:lastModifiedBy>annemanusha11@gmail.com</cp:lastModifiedBy>
  <cp:revision>6</cp:revision>
  <dcterms:created xsi:type="dcterms:W3CDTF">2026-06-04T07:45:48Z</dcterms:created>
  <dcterms:modified xsi:type="dcterms:W3CDTF">2026-07-15T08:27:57Z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2026-06-04T00:00:00Z</vt:filetime>
  </property>
  <property fmtid="{D5CDD505-2E9C-101B-9397-08002B2CF9AE}" pid="3" name="Creator">
    <vt:lpwstr>Google</vt:lpwstr>
  </property>
  <property fmtid="{D5CDD505-2E9C-101B-9397-08002B2CF9AE}" pid="4" name="LastSaved">
    <vt:filetime>2026-06-04T00:00:00Z</vt:filetime>
  </property>
</Properties>
</file>